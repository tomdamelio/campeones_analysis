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7" r:id="rId3"/>
    <p:sldId id="272" r:id="rId4"/>
    <p:sldId id="275" r:id="rId5"/>
    <p:sldId id="263" r:id="rId6"/>
    <p:sldId id="264" r:id="rId7"/>
    <p:sldId id="270" r:id="rId8"/>
    <p:sldId id="271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374" autoAdjust="0"/>
  </p:normalViewPr>
  <p:slideViewPr>
    <p:cSldViewPr snapToGrid="0" snapToObjects="1">
      <p:cViewPr varScale="1">
        <p:scale>
          <a:sx n="92" d="100"/>
          <a:sy n="92" d="100"/>
        </p:scale>
        <p:origin x="127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7DC764-8F5B-4DE3-93D8-22ED14901453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08EBE-AB22-488E-9F6A-77C2770A0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054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7b4e6d984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7b4e6d984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7b4e6d984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7b4e6d984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ITU-R Recommendation BT.601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Studio encoding parameters of digital television for standard 4:3 and wide-screen 16:9 aspect ratios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`L = 0.299*R + 0.587*G + 0.114*B`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08EBE-AB22-488E-9F6A-77C2770A05B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684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： </a:t>
            </a:r>
            <a:r>
              <a:rPr lang="en-US" altLang="zh-CN" dirty="0"/>
              <a:t>Regularization Parameter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08EBE-AB22-488E-9F6A-77C2770A05B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795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36" y="2180336"/>
            <a:ext cx="10360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B579A"/>
                </a:solidFill>
                <a:latin typeface="Calibri"/>
              </a:defRPr>
            </a:pPr>
            <a:r>
              <a:rPr lang="en-US" dirty="0"/>
              <a:t>Progress Report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0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  <a:latin typeface="Calibri"/>
              </a:defRPr>
            </a:pPr>
            <a:r>
              <a:rPr dirty="0"/>
              <a:t>April </a:t>
            </a:r>
            <a:r>
              <a:rPr lang="en-US" dirty="0">
                <a:solidFill>
                  <a:srgbClr val="FF0000"/>
                </a:solidFill>
              </a:rPr>
              <a:t>X</a:t>
            </a:r>
            <a:r>
              <a:rPr dirty="0"/>
              <a:t>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Yongjie</a:t>
            </a:r>
            <a:r>
              <a:rPr dirty="0"/>
              <a:t> Duan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017520"/>
            <a:ext cx="4873752" cy="3657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EB77B-FA7D-BE14-30C8-3F9F11949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0537B6-C34A-F81C-A7A6-937ADEE0175C}"/>
              </a:ext>
            </a:extLst>
          </p:cNvPr>
          <p:cNvSpPr txBox="1"/>
          <p:nvPr/>
        </p:nvSpPr>
        <p:spPr>
          <a:xfrm>
            <a:off x="914400" y="3075057"/>
            <a:ext cx="10360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B579A"/>
                </a:solidFill>
                <a:latin typeface="Calibri"/>
              </a:defRPr>
            </a:pPr>
            <a:r>
              <a:rPr lang="en-US" dirty="0"/>
              <a:t>EEG-moments dataset introduction</a:t>
            </a:r>
          </a:p>
        </p:txBody>
      </p:sp>
    </p:spTree>
    <p:extLst>
      <p:ext uri="{BB962C8B-B14F-4D97-AF65-F5344CB8AC3E}">
        <p14:creationId xmlns:p14="http://schemas.microsoft.com/office/powerpoint/2010/main" val="1574812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575850" y="240831"/>
            <a:ext cx="11037125" cy="779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8" tIns="121868" rIns="121868" bIns="121868" anchor="t" anchorCtr="0">
            <a:spAutoFit/>
          </a:bodyPr>
          <a:lstStyle/>
          <a:p>
            <a:r>
              <a:rPr lang="en-GB" sz="3466" b="1">
                <a:solidFill>
                  <a:srgbClr val="22222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Experimental design</a:t>
            </a:r>
            <a:endParaRPr sz="3466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815787" y="2063201"/>
            <a:ext cx="10557250" cy="385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8" tIns="121868" rIns="121868" bIns="121868" anchor="t" anchorCtr="0">
            <a:spAutoFit/>
          </a:bodyPr>
          <a:lstStyle/>
          <a:p>
            <a:pPr algn="just">
              <a:buClr>
                <a:schemeClr val="dk1"/>
              </a:buClr>
              <a:buSzPts val="1100"/>
            </a:pPr>
            <a:r>
              <a:rPr lang="en-GB" sz="2133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Trial:</a:t>
            </a:r>
            <a:r>
              <a:rPr lang="en-GB" sz="2133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1s baseline + 3s video + 0.25s baseline + 2s blink (=6.25s)</a:t>
            </a:r>
            <a:endParaRPr sz="2133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/>
            <a:endParaRPr sz="2133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buClr>
                <a:schemeClr val="dk1"/>
              </a:buClr>
              <a:buSzPts val="1100"/>
            </a:pPr>
            <a:r>
              <a:rPr lang="en-GB" sz="2133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Run:</a:t>
            </a:r>
            <a:r>
              <a:rPr lang="en-GB" sz="2133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66 trials (~=7m).</a:t>
            </a:r>
            <a:endParaRPr sz="2133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/>
            <a:endParaRPr sz="2133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/>
            <a:r>
              <a:rPr lang="en-GB" sz="2133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Session:</a:t>
            </a:r>
            <a:r>
              <a:rPr lang="en-GB" sz="2133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16 runs (~=112m + 15 breaks). At each session there are 3 repeats of 250 train videos + 3 repeats of 102 test videos.</a:t>
            </a:r>
            <a:endParaRPr sz="2133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buClr>
                <a:schemeClr val="dk1"/>
              </a:buClr>
              <a:buSzPts val="1100"/>
            </a:pPr>
            <a:endParaRPr sz="2133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/>
            <a:r>
              <a:rPr lang="en-GB" sz="2133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Whole experiment:</a:t>
            </a:r>
            <a:r>
              <a:rPr lang="en-GB" sz="2133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8 sessions, for a total of 6 repeats for each of the 1000 train videos, and 24 repeats for each of the 102 test videos.</a:t>
            </a:r>
          </a:p>
          <a:p>
            <a:pPr algn="just"/>
            <a:endParaRPr lang="en-GB" sz="2133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/>
            <a:r>
              <a:rPr lang="en-GB" altLang="zh-CN" sz="2133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EEG recordings:</a:t>
            </a:r>
            <a:r>
              <a:rPr lang="en-GB" altLang="zh-CN" sz="2133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128 electrodes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575850" y="240831"/>
            <a:ext cx="11037125" cy="779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8" tIns="121868" rIns="121868" bIns="121868" anchor="t" anchorCtr="0">
            <a:spAutoFit/>
          </a:bodyPr>
          <a:lstStyle/>
          <a:p>
            <a:r>
              <a:rPr lang="en-GB" sz="3466" b="1">
                <a:solidFill>
                  <a:srgbClr val="22222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EEG preprocessing</a:t>
            </a:r>
            <a:endParaRPr sz="3466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815787" y="1680455"/>
            <a:ext cx="10557250" cy="320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8" tIns="121868" rIns="121868" bIns="121868" anchor="t" anchorCtr="0">
            <a:spAutoFit/>
          </a:bodyPr>
          <a:lstStyle/>
          <a:p>
            <a:pPr algn="just"/>
            <a:r>
              <a:rPr lang="en-GB" sz="213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Filtering:</a:t>
            </a:r>
            <a:r>
              <a:rPr lang="en-GB" sz="213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between 0.01Hz and 100Hz</a:t>
            </a:r>
            <a:endParaRPr sz="213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/>
            <a:endParaRPr sz="213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/>
            <a:r>
              <a:rPr lang="en-GB" sz="213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Epoching:</a:t>
            </a:r>
            <a:r>
              <a:rPr lang="en-GB" sz="213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between -0.2s and +3.5s with respect to stimulus onset</a:t>
            </a:r>
            <a:endParaRPr sz="213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/>
            <a:endParaRPr sz="213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/>
            <a:r>
              <a:rPr lang="en-GB" sz="213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Baseline correction:</a:t>
            </a:r>
            <a:r>
              <a:rPr lang="en-GB" sz="213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using mean of prestimulus interval</a:t>
            </a:r>
            <a:endParaRPr sz="213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/>
            <a:endParaRPr sz="213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/>
            <a:r>
              <a:rPr lang="en-GB" sz="213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Frequency downsampling:</a:t>
            </a:r>
            <a:r>
              <a:rPr lang="en-GB" sz="213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50Hz</a:t>
            </a:r>
            <a:endParaRPr sz="213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/>
            <a:endParaRPr sz="213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/>
            <a:r>
              <a:rPr lang="en-GB" sz="213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MVNN:</a:t>
            </a:r>
            <a:r>
              <a:rPr lang="en-GB" sz="213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covariance matrices computed at each EEG time point</a:t>
            </a:r>
            <a:endParaRPr sz="2133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ToDo 3: Brightness Decoding —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579A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Decode a simple, low-level visual feature: overall video brightness (luminance)</a:t>
            </a:r>
          </a:p>
          <a:p>
            <a:pPr>
              <a:spcAft>
                <a:spcPts val="72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If EEG captures basic visual properties, bright vs. dark videos should be distinguishable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579A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146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Compute mean luminance for each test video (average pixel intensity across frames)</a:t>
            </a:r>
          </a:p>
          <a:p>
            <a:pPr>
              <a:spcAft>
                <a:spcPts val="72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Select top-20 brightest and top-20 darkest videos as two classes</a:t>
            </a:r>
          </a:p>
          <a:p>
            <a:pPr>
              <a:spcAft>
                <a:spcPts val="72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Binary SVM classification at each time point, LOO on pseudo-trials</a:t>
            </a:r>
          </a:p>
          <a:p>
            <a:pPr>
              <a:spcAft>
                <a:spcPts val="72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6 channel groups × 6 subjects, same pipeline as pairwise decoding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ToDo 3: Brightness Decoding — Results</a:t>
            </a:r>
          </a:p>
        </p:txBody>
      </p:sp>
      <p:pic>
        <p:nvPicPr>
          <p:cNvPr id="4" name="Picture 3" descr="binary_brightness_decoding_ntop-20_npseud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6881091" cy="59629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76872" y="1209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7346"/>
                </a:solidFill>
                <a:latin typeface="Calibri"/>
              </a:defRPr>
            </a:pPr>
            <a:r>
              <a:t>Observations: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59752" y="15748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Accuracy fluctuates around 50–60% (chance = 50%)</a:t>
            </a:r>
          </a:p>
          <a:p>
            <a:pPr>
              <a:spcAft>
                <a:spcPts val="56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Weak early peak at ~100–200ms in some subjects, but inconsistent</a:t>
            </a:r>
          </a:p>
          <a:p>
            <a:pPr>
              <a:spcAft>
                <a:spcPts val="56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No clear sustained above-chance signal across subjects or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6872" y="391252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7346"/>
                </a:solidFill>
                <a:latin typeface="Calibri"/>
              </a:defRPr>
            </a:pPr>
            <a:r>
              <a:rPr dirty="0"/>
              <a:t>Interpretation: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752" y="4278286"/>
            <a:ext cx="494210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Brightness alone is not robustly decodable with this approach</a:t>
            </a:r>
          </a:p>
          <a:p>
            <a:pPr>
              <a:spcAft>
                <a:spcPts val="56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Possible reasons: EEG decoding is not driven purely by luminance</a:t>
            </a:r>
            <a:endParaRPr lang="en-US" dirty="0"/>
          </a:p>
          <a:p>
            <a:pPr>
              <a:spcAft>
                <a:spcPts val="56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lang="en-US" altLang="zh-CN" sz="1400" dirty="0"/>
              <a:t>When 20 videos are aggregated, the underlying information is confounded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Brightness Decoding Optimization —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579A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736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Time-resolved single-timepoint approach failed — can we improve by using a multi-timepoint window?</a:t>
            </a:r>
          </a:p>
          <a:p>
            <a:pPr>
              <a:spcAft>
                <a:spcPts val="72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Focus on the extreme case: brightest vs. darkest single video (1046 vs 1093)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579A"/>
                </a:solidFill>
                <a:latin typeface="Calibri"/>
              </a:defRPr>
            </a:pPr>
            <a:r>
              <a:rPr dirty="0"/>
              <a:t>4-Phase Systematic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Phase 1: Window length sweep — fix start at t=0, vary end (0.1s to full trial)</a:t>
            </a:r>
          </a:p>
          <a:p>
            <a:pPr>
              <a:spcAft>
                <a:spcPts val="68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Phase 2: Sliding window — fix optimal length (1.2s), slide position across trial</a:t>
            </a:r>
          </a:p>
          <a:p>
            <a:pPr>
              <a:spcAft>
                <a:spcPts val="68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Phase 3: Fine-grained tuning — 0.05s then 0.02s step precision</a:t>
            </a:r>
          </a:p>
          <a:p>
            <a:pPr>
              <a:spcAft>
                <a:spcPts val="68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Phase 4: Classifier tuning — C parameter sweep, </a:t>
            </a:r>
            <a:r>
              <a:rPr dirty="0" err="1"/>
              <a:t>LinearSVC</a:t>
            </a:r>
            <a:r>
              <a:rPr dirty="0"/>
              <a:t> vs </a:t>
            </a:r>
            <a:r>
              <a:rPr dirty="0" err="1"/>
              <a:t>LogReg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217920" y="2468880"/>
            <a:ext cx="5486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579A"/>
                </a:solidFill>
                <a:latin typeface="Calibri"/>
              </a:defRPr>
            </a:pPr>
            <a:r>
              <a:rPr dirty="0"/>
              <a:t>Fixed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5303520" cy="228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All 127 EEG channels (no channel selection)</a:t>
            </a:r>
          </a:p>
          <a:p>
            <a:pPr>
              <a:spcAft>
                <a:spcPts val="68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Classifier: </a:t>
            </a:r>
            <a:r>
              <a:rPr dirty="0" err="1"/>
              <a:t>StandardScaler</a:t>
            </a:r>
            <a:r>
              <a:rPr dirty="0"/>
              <a:t> → </a:t>
            </a:r>
            <a:r>
              <a:rPr dirty="0" err="1"/>
              <a:t>LinearSVC</a:t>
            </a:r>
            <a:r>
              <a:rPr dirty="0"/>
              <a:t> </a:t>
            </a:r>
            <a:endParaRPr lang="en-US" dirty="0"/>
          </a:p>
          <a:p>
            <a:pPr>
              <a:spcAft>
                <a:spcPts val="68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No PCA dimensionality reduction</a:t>
            </a:r>
          </a:p>
          <a:p>
            <a:pPr>
              <a:spcAft>
                <a:spcPts val="68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Samples: 288 trials (144 bright + 144 dark, from 6 subjects × 8 sessions)</a:t>
            </a:r>
            <a:endParaRPr lang="en-US" dirty="0"/>
          </a:p>
          <a:p>
            <a:pPr>
              <a:spcAft>
                <a:spcPts val="68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CV: Leave-One-Subject-Out (LOSO, 6-fold) for cross-subject generalization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Brightness Decoding Optimization — Results (LOSO Best)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92579" y="2143861"/>
            <a:ext cx="30036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579A"/>
                </a:solidFill>
                <a:latin typeface="Calibri"/>
              </a:defRPr>
            </a:pPr>
            <a:r>
              <a:rPr dirty="0"/>
              <a:t>LOSO Best (Cross-Subject)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67826" y="2608811"/>
            <a:ext cx="5943600" cy="2055553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450706" y="2700251"/>
            <a:ext cx="557784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Time window: 0.06 – 1.26s (1.2s width)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Channels: all 127 EEG channels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Features: ~15,240 (flattened </a:t>
            </a:r>
            <a:r>
              <a:rPr dirty="0" err="1"/>
              <a:t>time×channels</a:t>
            </a:r>
            <a:r>
              <a:rPr dirty="0"/>
              <a:t>, no PCA)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Classifier: </a:t>
            </a:r>
            <a:r>
              <a:rPr dirty="0" err="1"/>
              <a:t>StandardScaler</a:t>
            </a:r>
            <a:r>
              <a:rPr dirty="0"/>
              <a:t> → </a:t>
            </a:r>
            <a:r>
              <a:rPr dirty="0" err="1"/>
              <a:t>LinearSVC</a:t>
            </a:r>
            <a:r>
              <a:rPr dirty="0"/>
              <a:t> </a:t>
            </a:r>
            <a:endParaRPr lang="en-US"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LOSO accuracy: 88.5%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Per-subject: 89.6%, 91.7%, 81.2%, 87.5%, 89.6%, 91.7%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563</Words>
  <Application>Microsoft Office PowerPoint</Application>
  <PresentationFormat>自定义</PresentationFormat>
  <Paragraphs>71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Arial</vt:lpstr>
      <vt:lpstr>Calibri</vt:lpstr>
      <vt:lpstr>Montserrat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Duan</dc:creator>
  <cp:keywords/>
  <dc:description>generated using python-pptx</dc:description>
  <cp:lastModifiedBy>永杰 段</cp:lastModifiedBy>
  <cp:revision>9</cp:revision>
  <dcterms:created xsi:type="dcterms:W3CDTF">2013-01-27T09:14:16Z</dcterms:created>
  <dcterms:modified xsi:type="dcterms:W3CDTF">2026-04-09T13:50:08Z</dcterms:modified>
  <cp:category/>
</cp:coreProperties>
</file>